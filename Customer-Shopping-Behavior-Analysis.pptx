
<file path=[Content_Types].xml><?xml version="1.0" encoding="utf-8"?>
<Types xmlns="http://schemas.openxmlformats.org/package/2006/content-types">
  <Default ContentType="application/vnd.openxmlformats-officedocument.extended-properties+xml" Extension="xml"/>
  <Default ContentType="image/png" Extension="png"/>
  <Default ContentType="application/x-fontdata" Extension="fntdata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theme+xml" PartName="/ppt/theme/theme1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1.xml"/>
  <Override ContentType="application/vnd.openxmlformats-officedocument.presentationml.notesMaster+xml" PartName="/ppt/notesMasters/notesMaster1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5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6.xml"/>
  <Override ContentType="application/vnd.openxmlformats-officedocument.presentationml.slide+xml" PartName="/ppt/slides/slide7.xml"/>
  <Override ContentType="application/vnd.openxmlformats-officedocument.presentationml.notesSlide+xml" PartName="/ppt/notesSlides/notesSlide7.xml"/>
  <Override ContentType="application/vnd.openxmlformats-officedocument.presentationml.slide+xml" PartName="/ppt/slides/slide8.xml"/>
  <Override ContentType="application/vnd.openxmlformats-officedocument.presentationml.notesSlide+xml" PartName="/ppt/notesSlides/notesSlide8.xml"/>
  <Override ContentType="application/vnd.openxmlformats-officedocument.presentationml.slide+xml" PartName="/ppt/slides/slide9.xml"/>
  <Override ContentType="application/vnd.openxmlformats-officedocument.presentationml.notesSlide+xml" PartName="/ppt/notesSlides/notesSlide9.xml"/>
  <Override ContentType="application/vnd.openxmlformats-officedocument.presentationml.slide+xml" PartName="/ppt/slides/slide10.xml"/>
  <Override ContentType="application/vnd.openxmlformats-officedocument.presentationml.notesSlide+xml" PartName="/ppt/notesSlides/notesSlide1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Default ContentType="image/jpeg" Extension="jpeg"/>
  <Override ContentType="application/vnd.openxmlformats-officedocument.custom-properties+xml" PartName="/docProps/custom.xml"/>
</Types>
</file>

<file path=_rels/.rels><?xml version="1.0" encoding="utf-8" standalone="no" ?><Relationships xmlns="http://schemas.openxmlformats.org/package/2006/relationships"><Relationship Id="rId1" Target="/docProps/app.xml" Type="http://schemas.openxmlformats.org/officeDocument/2006/relationships/extended-properties"/><Relationship Id="rId2" Target="/docProps/core.xml" Type="http://schemas.openxmlformats.org/package/2006/relationships/metadata/core-properties"/><Relationship Id="rId3" Target="/ppt/presentation.xml" Type="http://schemas.openxmlformats.org/officeDocument/2006/relationships/officeDocument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Petrona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Relationship Type="http://schemas.openxmlformats.org/officeDocument/2006/relationships/slide" Target="/ppt/slides/slide10.xml" Id="rId11" /><Relationship Type="http://schemas.openxmlformats.org/officeDocument/2006/relationships/notesMaster" Target="/ppt/notesMasters/notesMaster1.xml" Id="rId12" /><Relationship Type="http://schemas.openxmlformats.org/officeDocument/2006/relationships/presProps" Target="/ppt/presProps.xml" Id="rId13" /><Relationship Type="http://schemas.openxmlformats.org/officeDocument/2006/relationships/viewProps" Target="/ppt/viewProps.xml" Id="rId14" /><Relationship Type="http://schemas.openxmlformats.org/officeDocument/2006/relationships/theme" Target="/ppt/theme/theme1.xml" Id="rId15" /><Relationship Type="http://schemas.openxmlformats.org/officeDocument/2006/relationships/tableStyles" Target="/ppt/tableStyles.xml" Id="rId16" /><Relationship Type="http://schemas.openxmlformats.org/officeDocument/2006/relationships/font" Target="/ppt/fonts/font1.fntdata" Id="rId17" /><Relationship Type="http://schemas.openxmlformats.org/officeDocument/2006/relationships/font" Target="/ppt/fonts/font2.fntdata" Id="rId18" /><Relationship Type="http://schemas.openxmlformats.org/officeDocument/2006/relationships/font" Target="/ppt/fonts/font3.fntdata" Id="rId19" /><Relationship Type="http://schemas.openxmlformats.org/officeDocument/2006/relationships/font" Target="/ppt/fonts/font4.fntdata" Id="rId20" /><Relationship Type="http://schemas.openxmlformats.org/officeDocument/2006/relationships/font" Target="/ppt/fonts/font5.fntdata" Id="rId21" /><Relationship Type="http://schemas.openxmlformats.org/officeDocument/2006/relationships/font" Target="/ppt/fonts/font6.fntdata" Id="rId22" /><Relationship Type="http://schemas.openxmlformats.org/officeDocument/2006/relationships/font" Target="/ppt/fonts/font7.fntdata" Id="rId23" /><Relationship Type="http://schemas.openxmlformats.org/officeDocument/2006/relationships/font" Target="/ppt/fonts/font8.fntdata" Id="rId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0.xml" Id="rId2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-1002-1.png" Id="rId1" /><Relationship Type="http://schemas.openxmlformats.org/officeDocument/2006/relationships/image" Target="/ppt/media/image-1002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/ppt/media/image-1003-1.png" Id="rId1" /><Relationship Type="http://schemas.openxmlformats.org/officeDocument/2006/relationships/image" Target="/ppt/media/image-1003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image" Target="/ppt/media/image-1004-1.png" Id="rId1" /><Relationship Type="http://schemas.openxmlformats.org/officeDocument/2006/relationships/image" Target="/ppt/media/image-1004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image" Target="/ppt/media/image-1005-1.png" Id="rId1" /><Relationship Type="http://schemas.openxmlformats.org/officeDocument/2006/relationships/image" Target="/ppt/media/image-1005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image" Target="/ppt/media/image-1006-1.png" Id="rId1" /><Relationship Type="http://schemas.openxmlformats.org/officeDocument/2006/relationships/image" Target="/ppt/media/image-1006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image" Target="/ppt/media/image-1007-1.png" Id="rId1" /><Relationship Type="http://schemas.openxmlformats.org/officeDocument/2006/relationships/image" Target="/ppt/media/image-1007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image" Target="/ppt/media/image-1008-1.png" Id="rId1" /><Relationship Type="http://schemas.openxmlformats.org/officeDocument/2006/relationships/image" Target="/ppt/media/image-1008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image" Target="/ppt/media/image-1009-1.png" Id="rId1" /><Relationship Type="http://schemas.openxmlformats.org/officeDocument/2006/relationships/image" Target="/ppt/media/image-1009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image" Target="/ppt/media/image-1010-1.png" Id="rId1" /><Relationship Type="http://schemas.openxmlformats.org/officeDocument/2006/relationships/image" Target="/ppt/media/image-1010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image" Target="/ppt/media/image-1011-1.png" Id="rId1" /><Relationship Type="http://schemas.openxmlformats.org/officeDocument/2006/relationships/image" Target="/ppt/media/image-1011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<Relationships xmlns="http://schemas.openxmlformats.org/package/2006/relationships"><Relationship Id="rId1" Target="/ppt/media/image-1-1.jpeg" Type="http://schemas.openxmlformats.org/officeDocument/2006/relationships/image"/><Relationship Id="rId2" Target="/ppt/slideLayouts/slideLayout2.xml" Type="http://schemas.openxmlformats.org/officeDocument/2006/relationships/slideLayout"/><Relationship Id="rId3" Target="/ppt/notesSlides/notesSlide1.xml" Type="http://schemas.openxmlformats.org/officeDocument/2006/relationships/notesSlide"/></Relationships>
</file>

<file path=ppt/slides/_rels/slide2.xml.rels><?xml version="1.0" encoding="utf-8" standalone="no" ?><Relationships xmlns="http://schemas.openxmlformats.org/package/2006/relationships"><Relationship Id="rId1" Target="/ppt/media/image-2-1.jpeg" Type="http://schemas.openxmlformats.org/officeDocument/2006/relationships/image"/><Relationship Id="rId2" Target="/ppt/slideLayouts/slideLayout3.xml" Type="http://schemas.openxmlformats.org/officeDocument/2006/relationships/slideLayout"/><Relationship Id="rId3" Target="/ppt/notesSlides/notesSlide2.xml" Type="http://schemas.openxmlformats.org/officeDocument/2006/relationships/notesSlide"/></Relationships>
</file>

<file path=ppt/slides/_rels/slide3.xml.rels><?xml version="1.0" encoding="utf-8" standalone="no" ?><Relationships xmlns="http://schemas.openxmlformats.org/package/2006/relationships"><Relationship Id="rId1" Target="/ppt/media/image-3-1.jpeg" Type="http://schemas.openxmlformats.org/officeDocument/2006/relationships/image"/><Relationship Id="rId2" Target="/ppt/slideLayouts/slideLayout4.xml" Type="http://schemas.openxmlformats.org/officeDocument/2006/relationships/slideLayout"/><Relationship Id="rId3" Target="/ppt/notesSlides/notesSlide3.xml" Type="http://schemas.openxmlformats.org/officeDocument/2006/relationships/notesSlide"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notesSlide" Target="/ppt/notesSlides/notesSlide4.xml" Id="rId2" /></Relationships>
</file>

<file path=ppt/slides/_rels/slide5.xml.rels><?xml version="1.0" encoding="utf-8" standalone="no" ?><Relationships xmlns="http://schemas.openxmlformats.org/package/2006/relationships"><Relationship Id="rId1" Target="/ppt/media/image-5-1.jpeg" Type="http://schemas.openxmlformats.org/officeDocument/2006/relationships/image"/><Relationship Id="rId2" Target="/ppt/slideLayouts/slideLayout6.xml" Type="http://schemas.openxmlformats.org/officeDocument/2006/relationships/slideLayout"/><Relationship Id="rId3" Target="/ppt/notesSlides/notesSlide5.xml" Type="http://schemas.openxmlformats.org/officeDocument/2006/relationships/notesSlide"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-6-1.png" Id="rId1" /><Relationship Type="http://schemas.openxmlformats.org/officeDocument/2006/relationships/image" Target="/ppt/media/image-6-2.png" Id="rId2" /><Relationship Type="http://schemas.openxmlformats.org/officeDocument/2006/relationships/image" Target="/ppt/media/image-6-3.png" Id="rId3" /><Relationship Type="http://schemas.openxmlformats.org/officeDocument/2006/relationships/slideLayout" Target="/ppt/slideLayouts/slideLayout7.xml" Id="rId4" /><Relationship Type="http://schemas.openxmlformats.org/officeDocument/2006/relationships/notesSlide" Target="/ppt/notesSlides/notesSlide6.xml" Id="rI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1" /><Relationship Type="http://schemas.openxmlformats.org/officeDocument/2006/relationships/notesSlide" Target="/ppt/notesSlides/notesSlide7.xml" Id="rId2" /></Relationships>
</file>

<file path=ppt/slides/_rels/slide8.xml.rels><?xml version="1.0" encoding="utf-8" standalone="no" ?><Relationships xmlns="http://schemas.openxmlformats.org/package/2006/relationships"><Relationship Id="rId1" Target="/ppt/media/image-8-1.jpeg" Type="http://schemas.openxmlformats.org/officeDocument/2006/relationships/image"/><Relationship Id="rId2" Target="/ppt/slideLayouts/slideLayout9.xml" Type="http://schemas.openxmlformats.org/officeDocument/2006/relationships/slideLayout"/><Relationship Id="rId3" Target="/ppt/notesSlides/notesSlide8.xml" Type="http://schemas.openxmlformats.org/officeDocument/2006/relationships/notesSlide"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Id1" /><Relationship Type="http://schemas.openxmlformats.org/officeDocument/2006/relationships/notesSlide" Target="/ppt/notesSlides/notesSlide9.xml" Id="rId2" /></Relationships>
</file>

<file path=ppt/slides/_rels/slide10.xml.rels><?xml version="1.0" encoding="utf-8" standalone="no" ?><Relationships xmlns="http://schemas.openxmlformats.org/package/2006/relationships"><Relationship Id="rId1" Target="/ppt/media/image-10-1.jpeg" Type="http://schemas.openxmlformats.org/officeDocument/2006/relationships/image"/><Relationship Id="rId2" Target="/ppt/slideLayouts/slideLayout11.xml" Type="http://schemas.openxmlformats.org/officeDocument/2006/relationships/slideLayout"/><Relationship Id="rId3" Target="/ppt/notesSlides/notesSlide10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37498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Analysis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66617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3774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Overview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3022163"/>
            <a:ext cx="3664744" cy="1702832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2565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Size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14624" y="3764756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purchases across 18 columns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022163"/>
            <a:ext cx="3664863" cy="1702832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32565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406182" y="376475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Demographics, purchase details, shopping behavior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51809"/>
            <a:ext cx="7556421" cy="1339929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1862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Goal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514624" y="569440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 spending patterns and customer segments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560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Gender</a:t>
            </a:r>
            <a:endParaRPr lang="en-US" sz="4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4517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35958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9638943" y="3958471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$157,890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revenue, while female customers generated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$75,191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251252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significant difference suggests gender-based marketing opportunities.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7870"/>
            <a:ext cx="628650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Products by Rating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595920"/>
            <a:ext cx="4196358" cy="1695331"/>
          </a:xfrm>
          <a:prstGeom prst="roundRect">
            <a:avLst>
              <a:gd name="adj" fmla="val 863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6544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25575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242589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1628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Gloves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084" y="367105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3.86 average rating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595920"/>
            <a:ext cx="4196358" cy="1695331"/>
          </a:xfrm>
          <a:prstGeom prst="roundRect">
            <a:avLst>
              <a:gd name="adj" fmla="val 863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256544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225575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242589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31628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Sandals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74256" y="367105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3.84 average rating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595920"/>
            <a:ext cx="4196358" cy="1695331"/>
          </a:xfrm>
          <a:prstGeom prst="roundRect">
            <a:avLst>
              <a:gd name="adj" fmla="val 863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256544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225575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242589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31628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Boots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897427" y="367105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3.82 average rating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4858226"/>
            <a:ext cx="6407944" cy="1695331"/>
          </a:xfrm>
          <a:prstGeom prst="roundRect">
            <a:avLst>
              <a:gd name="adj" fmla="val 863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93790" y="4827746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0" y="451806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</p:sp>
      <p:sp>
        <p:nvSpPr>
          <p:cNvPr id="24" name="Text 22"/>
          <p:cNvSpPr/>
          <p:nvPr/>
        </p:nvSpPr>
        <p:spPr>
          <a:xfrm>
            <a:off x="3861614" y="468820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54252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Hat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1051084" y="5933361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3.80 average rating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4858226"/>
            <a:ext cx="6407944" cy="1695331"/>
          </a:xfrm>
          <a:prstGeom prst="roundRect">
            <a:avLst>
              <a:gd name="adj" fmla="val 863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28548" y="4827746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2298" y="451806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6371" y="468820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2" y="54252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Handbag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7685842" y="5933361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3.78 average rating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793790" y="68087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high-rated products represent quality offerings that drive customer satisfaction.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9395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Impact Analysis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77142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27%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803219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Subscribed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531137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1,053 customers with subscriptions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377142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73%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4803219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Non-Subscribed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407093" y="531137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2,847 customers without subscriptions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377142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$59.87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4803219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Avg Spend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020395" y="5311378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 spend slightly more per purchase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049" y="631388"/>
            <a:ext cx="6410206" cy="722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50"/>
              </a:lnSpc>
              <a:buNone/>
            </a:pPr>
            <a:r>
              <a:rPr lang="en-US" sz="4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1508284" y="3213973"/>
            <a:ext cx="2709624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60%</a:t>
            </a:r>
            <a:endParaRPr lang="en-US" sz="4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985" y="1837134"/>
            <a:ext cx="3304461" cy="33044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558" y="5410557"/>
            <a:ext cx="289143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 Customers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71049" y="5900380"/>
            <a:ext cx="4184452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2,339 repeat buyers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60150" y="3213973"/>
            <a:ext cx="2709624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38%</a:t>
            </a:r>
            <a:endParaRPr lang="en-US" sz="4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851" y="1837134"/>
            <a:ext cx="3304461" cy="33044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69424" y="5410557"/>
            <a:ext cx="289143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Returning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5222915" y="5900380"/>
            <a:ext cx="4184452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1,478 customers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0412135" y="3213973"/>
            <a:ext cx="2709624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2%</a:t>
            </a:r>
            <a:endParaRPr lang="en-US" sz="4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4836" y="1837134"/>
            <a:ext cx="3304461" cy="33044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21290" y="5410557"/>
            <a:ext cx="289143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New</a:t>
            </a:r>
            <a:endParaRPr lang="en-US" sz="2250" dirty="0"/>
          </a:p>
        </p:txBody>
      </p:sp>
      <p:sp>
        <p:nvSpPr>
          <p:cNvPr id="14" name="Text 9"/>
          <p:cNvSpPr/>
          <p:nvPr/>
        </p:nvSpPr>
        <p:spPr>
          <a:xfrm>
            <a:off x="9674781" y="5900380"/>
            <a:ext cx="418457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 customers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71049" y="6568559"/>
            <a:ext cx="289143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771049" y="7250906"/>
            <a:ext cx="13088303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loyalty rate indicates strong customer retention. Focus on converting new customers to returning buyers.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771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Category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048953"/>
            <a:ext cx="5719882" cy="283488"/>
          </a:xfrm>
          <a:prstGeom prst="roundRect">
            <a:avLst>
              <a:gd name="adj" fmla="val 3360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3048953"/>
            <a:ext cx="2688312" cy="283488"/>
          </a:xfrm>
          <a:prstGeom prst="roundRect">
            <a:avLst>
              <a:gd name="adj" fmla="val 33606"/>
            </a:avLst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6683693" y="3048953"/>
            <a:ext cx="48970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47%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158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Clothing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4123968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$110K revenue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6884" y="3048953"/>
            <a:ext cx="5700117" cy="283488"/>
          </a:xfrm>
          <a:prstGeom prst="roundRect">
            <a:avLst>
              <a:gd name="adj" fmla="val 3360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6884" y="3048953"/>
            <a:ext cx="1937980" cy="283488"/>
          </a:xfrm>
          <a:prstGeom prst="roundRect">
            <a:avLst>
              <a:gd name="adj" fmla="val 33606"/>
            </a:avLst>
          </a:prstGeom>
          <a:solidFill>
            <a:srgbClr val="007EBD"/>
          </a:solidFill>
          <a:ln/>
        </p:spPr>
      </p:sp>
      <p:sp>
        <p:nvSpPr>
          <p:cNvPr id="10" name="Text 8"/>
          <p:cNvSpPr/>
          <p:nvPr/>
        </p:nvSpPr>
        <p:spPr>
          <a:xfrm>
            <a:off x="13327023" y="3048953"/>
            <a:ext cx="50958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34%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6158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Accessories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456884" y="4123968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$80K revenue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53846"/>
            <a:ext cx="5751314" cy="283488"/>
          </a:xfrm>
          <a:prstGeom prst="roundRect">
            <a:avLst>
              <a:gd name="adj" fmla="val 3360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790" y="5053846"/>
            <a:ext cx="977622" cy="283488"/>
          </a:xfrm>
          <a:prstGeom prst="roundRect">
            <a:avLst>
              <a:gd name="adj" fmla="val 33606"/>
            </a:avLst>
          </a:prstGeom>
          <a:solidFill>
            <a:srgbClr val="007EBD"/>
          </a:solidFill>
          <a:ln/>
        </p:spPr>
      </p:sp>
      <p:sp>
        <p:nvSpPr>
          <p:cNvPr id="15" name="Text 13"/>
          <p:cNvSpPr/>
          <p:nvPr/>
        </p:nvSpPr>
        <p:spPr>
          <a:xfrm>
            <a:off x="6715125" y="5053846"/>
            <a:ext cx="45827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17%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56207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Footwear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93790" y="612886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$40K revenue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56884" y="5053846"/>
            <a:ext cx="5842635" cy="283488"/>
          </a:xfrm>
          <a:prstGeom prst="roundRect">
            <a:avLst>
              <a:gd name="adj" fmla="val 3360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6884" y="5053846"/>
            <a:ext cx="467320" cy="283488"/>
          </a:xfrm>
          <a:prstGeom prst="roundRect">
            <a:avLst>
              <a:gd name="adj" fmla="val 33606"/>
            </a:avLst>
          </a:prstGeom>
          <a:solidFill>
            <a:srgbClr val="007EBD"/>
          </a:solidFill>
          <a:ln/>
        </p:spPr>
      </p:sp>
      <p:sp>
        <p:nvSpPr>
          <p:cNvPr id="20" name="Text 18"/>
          <p:cNvSpPr/>
          <p:nvPr/>
        </p:nvSpPr>
        <p:spPr>
          <a:xfrm>
            <a:off x="13469541" y="5053846"/>
            <a:ext cx="36707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56884" y="56207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Outerwear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456884" y="612886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$20K revenue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6516"/>
            <a:ext cx="649664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 Group Performance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27743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Leaders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876318"/>
            <a:ext cx="420516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Adults: $120K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Midlife: $80K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Adults: $60K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Seniors: $40K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036088"/>
            <a:ext cx="8284131" cy="46236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71700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drive the highest revenue and purchase frequency, making them the primary target demographic.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9112"/>
            <a:ext cx="633591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Business Decisions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419635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Focus on Clothing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3704511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inventory and marketing for highest-revenue category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22044"/>
            <a:ext cx="419635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1963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Subscriptions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216962" y="3704511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special discounts and loyalty programs to increase from 27%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22044"/>
            <a:ext cx="419635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1963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 Young Adults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640133" y="3704511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marketing campaigns on highest-spending age group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8271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82195"/>
            <a:ext cx="6407944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565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Improve Satisfaction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93790" y="586466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product quality and service to increase 3.75 average rating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8271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182195"/>
            <a:ext cx="6407944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3565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Optimize Shipping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428548" y="586466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most-used shipping methods and improve delivery services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39113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47555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to transform customer insights into strategic action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2026-03-09T16:29:14Z</dcterms:created>
  <dcterms:modified xsi:type="dcterms:W3CDTF">2026-03-09T16:29:14Z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2862137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S11.0.1</vt:lpwstr>
  </property>
</Properties>
</file>